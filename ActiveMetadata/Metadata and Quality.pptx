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6" r:id="rId6"/>
    <p:sldId id="262" r:id="rId7"/>
    <p:sldId id="278" r:id="rId8"/>
    <p:sldId id="261" r:id="rId9"/>
    <p:sldId id="258" r:id="rId10"/>
    <p:sldId id="277" r:id="rId11"/>
    <p:sldId id="289" r:id="rId12"/>
    <p:sldId id="295" r:id="rId13"/>
    <p:sldId id="275" r:id="rId14"/>
    <p:sldId id="276" r:id="rId1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7B982F-5EB4-4E2D-8BCF-CB1B1B607827}" v="418" dt="2025-06-03T22:50:31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BC54730-5EBA-4920-A6C4-7F8458A7F940}" type="datetime1">
              <a:rPr lang="it-IT" smtClean="0"/>
              <a:t>11/06/2025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C1C34-318D-43A8-83F5-3AC8647FE75E}" type="datetime1">
              <a:rPr lang="it-IT" smtClean="0"/>
              <a:pPr/>
              <a:t>11/06/2025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2955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650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9735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6070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2371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1813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3512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6112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0958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quenza tempor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emento gra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IL TITOLO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7" name="Segnaposto tes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8" name="Segnaposto tes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9" name="Segnaposto tes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4" name="Segnaposto tes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Fai clic per modificare lo stile del testo dello schema.</a:t>
            </a:r>
          </a:p>
        </p:txBody>
      </p:sp>
      <p:sp>
        <p:nvSpPr>
          <p:cNvPr id="35" name="Segnaposto tes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Fai clic per modificare lo stile del testo dello schema.</a:t>
            </a:r>
          </a:p>
        </p:txBody>
      </p:sp>
      <p:sp>
        <p:nvSpPr>
          <p:cNvPr id="36" name="Segnaposto tes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Fai clic per modificare lo stile del testo dello schema.</a:t>
            </a:r>
          </a:p>
        </p:txBody>
      </p:sp>
      <p:sp>
        <p:nvSpPr>
          <p:cNvPr id="37" name="Segnaposto tes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Fai clic per modificare lo stile del testo dello schema.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a contenut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o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15" name="Segnaposto tes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7" name="Segnaposto tes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1" name="Segnaposto tes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t-IT" noProof="0"/>
              <a:t>FAI CLIC PER AGGIUNGERE IL SOTTOTITOLO</a:t>
            </a:r>
          </a:p>
        </p:txBody>
      </p:sp>
      <p:sp>
        <p:nvSpPr>
          <p:cNvPr id="32" name="Segnaposto tes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3" name="Segnaposto tes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t-IT" noProof="0"/>
              <a:t>FAI CLIC PER AGGIUNGERE IL SOTTOTITOLO</a:t>
            </a:r>
          </a:p>
        </p:txBody>
      </p:sp>
      <p:sp>
        <p:nvSpPr>
          <p:cNvPr id="34" name="Segnaposto tes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2" name="Segnaposto tes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t-IT" noProof="0"/>
              <a:t>FAI CLIC PER AGGIUNGERE IL SOTTOTITOLO</a:t>
            </a:r>
          </a:p>
        </p:txBody>
      </p:sp>
      <p:sp>
        <p:nvSpPr>
          <p:cNvPr id="13" name="Segnaposto tes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a contenu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o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15" name="Segnaposto tes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7" name="Segnaposto tes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8" name="Segnaposto tes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9" name="Segnaposto tes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20" name="Segnaposto tes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3" name="Segnaposto tes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24" name="Segnaposto tes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pPr rtl="0"/>
              <a:t>‹N›</a:t>
            </a:fld>
            <a:endParaRPr lang="it-IT" noProof="0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zi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gnaposto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11" name="Segnaposto numero diapositiva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ruzione di sezio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egnaposto tes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2" name="Segnaposto tes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3" name="Segnaposto tes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4" name="Segnaposto tes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5" name="Segnaposto tes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6" name="Segnaposto tes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7" name="Segnaposto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18" name="Segnaposto piè di pagina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19" name="Segnaposto numero diapositiva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 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IL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t-IT" noProof="0"/>
              <a:t>FARE CLIC PER MODIFICARE IL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21" name="Segnaposto tes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IL TESTO DELLO SCHEMA</a:t>
            </a:r>
          </a:p>
        </p:txBody>
      </p:sp>
      <p:sp>
        <p:nvSpPr>
          <p:cNvPr id="22" name="Segnaposto contenut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di merca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23" name="Segnaposto tes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24" name="Segnaposto tes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22" name="Segnaposto contenut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Segnaposto contenut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6" name="Segnaposto contenut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endParaRPr lang="it-IT" noProof="0"/>
          </a:p>
        </p:txBody>
      </p:sp>
      <p:sp>
        <p:nvSpPr>
          <p:cNvPr id="27" name="Segnaposto contenut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uto d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IL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t-IT" noProof="0"/>
              <a:t>FARE CLIC PER MODIFICARE IL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o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20" name="Segnaposto tes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25" name="Segnaposto tes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6" name="Segnaposto tes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27" name="Segnaposto tes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8" name="Segnaposto tes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29" name="Segnaposto tes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1" name="Segnaposto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22" name="Segnaposto piè di pa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24" name="Segnaposto numero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za tempora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6" name="Segnaposto tes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Anno</a:t>
            </a:r>
          </a:p>
        </p:txBody>
      </p:sp>
      <p:sp>
        <p:nvSpPr>
          <p:cNvPr id="7" name="Segnaposto tes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8" name="Segnaposto tes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9" name="Segnaposto tes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Anno</a:t>
            </a:r>
          </a:p>
        </p:txBody>
      </p:sp>
      <p:sp>
        <p:nvSpPr>
          <p:cNvPr id="12" name="Segnaposto tes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5" name="Segnaposto tes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7" name="Segnaposto tes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8" name="Segnaposto tes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9" name="Segnaposto tes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0" name="Segnaposto tes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1" name="Segnaposto tes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2" name="Segnaposto tes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3" name="Segnaposto tes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4" name="Segnaposto tes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5" name="Segnaposto tes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6" name="Segnaposto tes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7" name="Segnaposto tes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8" name="Segnaposto tes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9" name="Segnaposto tes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30" name="Segnaposto tes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31" name="Segnaposto tes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Segnaposto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37" name="Segnaposto piè di pagina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38" name="Segnaposto numero diapositiva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sull'icona per aggiungere l'elemento grafico SmartArt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l team di 4 perso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7" name="Segnaposto immagin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8" name="Segnaposto immagin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it-IT" noProof="0"/>
              <a:t>Fare clic sull'icona per inserire un'immagine</a:t>
            </a:r>
          </a:p>
        </p:txBody>
      </p:sp>
      <p:sp>
        <p:nvSpPr>
          <p:cNvPr id="19" name="Segnaposto immagin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3" name="Segnaposto tes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4" name="Segnaposto tes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5" name="Segnaposto tes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6" name="Segnaposto tes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7" name="Segnaposto tes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8" name="Segnaposto tes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9" name="Segnaposto tes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l team di 8 perso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7" name="Segnaposto immagin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8" name="Segnaposto immagin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it-IT" noProof="0"/>
              <a:t>Fare clic sull'icona per inserire un'immagine</a:t>
            </a:r>
          </a:p>
        </p:txBody>
      </p:sp>
      <p:sp>
        <p:nvSpPr>
          <p:cNvPr id="19" name="Segnaposto immagin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6" name="Segnaposto tes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3" name="Segnaposto tes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7" name="Segnaposto tes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4" name="Segnaposto tes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8" name="Segnaposto tes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5" name="Segnaposto tes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9" name="Segnaposto tes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55" name="Segnaposto immagine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56" name="Segnaposto immagine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57" name="Segnaposto immagine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it-IT" noProof="0"/>
              <a:t>Fare clic sull'icona per inserire un'immagine</a:t>
            </a:r>
          </a:p>
        </p:txBody>
      </p:sp>
      <p:sp>
        <p:nvSpPr>
          <p:cNvPr id="58" name="Segnaposto immagine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54" name="Segnaposto tes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62" name="Segnaposto tes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59" name="Segnaposto tes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63" name="Segnaposto tes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60" name="Segnaposto tes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64" name="Segnaposto tes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61" name="Segnaposto tes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65" name="Segnaposto tes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it-IT" noProof="0"/>
              <a:t>Fai clic per aggiungere contenuto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17" name="Segnaposto tes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4" name="Segnaposto contenut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it-IT" noProof="0"/>
              <a:t>Fai clic per aggiungere contenuto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18" name="Segnaposto tes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t-IT" noProof="0"/>
              <a:t>FARE CLIC PER MODIFICARE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5" name="Segnaposto contenut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it-IT" noProof="0"/>
              <a:t>Fai clic per aggiungere contenuto</a:t>
            </a:r>
          </a:p>
        </p:txBody>
      </p:sp>
      <p:sp>
        <p:nvSpPr>
          <p:cNvPr id="21" name="Segnaposto tes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19" name="Segnaposto tes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2" name="Segnaposto contenut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6" name="Segnaposto contenut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it-IT" noProof="0"/>
              <a:t>Fai clic per aggiungere contenuto</a:t>
            </a:r>
          </a:p>
        </p:txBody>
      </p:sp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23" name="Segnaposto tes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gnaposto contenut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iepi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egnaposto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22" name="Segnaposto piè di pa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24" name="Segnaposto numero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hiusur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Segnaposto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11" name="Segnaposto numero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183" y="4454733"/>
            <a:ext cx="7056783" cy="1122202"/>
          </a:xfrm>
        </p:spPr>
        <p:txBody>
          <a:bodyPr rtlCol="0"/>
          <a:lstStyle/>
          <a:p>
            <a:pPr rtl="0"/>
            <a:r>
              <a:rPr lang="it-IT" sz="4000" dirty="0"/>
              <a:t>Metadata &amp; Quality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3183" y="5576935"/>
            <a:ext cx="4941770" cy="396660"/>
          </a:xfrm>
        </p:spPr>
        <p:txBody>
          <a:bodyPr rtlCol="0"/>
          <a:lstStyle/>
          <a:p>
            <a:pPr rtl="0"/>
            <a:r>
              <a:rPr lang="it-IT" dirty="0"/>
              <a:t>Alessandro Di Girolamo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it-IT" dirty="0"/>
              <a:t>2025</a:t>
            </a:r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it-IT" dirty="0"/>
              <a:t>Metadata &amp; Quality</a:t>
            </a: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it-IT" smtClean="0"/>
              <a:pPr rtl="0"/>
              <a:t>2</a:t>
            </a:fld>
            <a:endParaRPr lang="it-IT" dirty="0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17CF8B38-3C11-1D9D-CC9C-C2758E680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986" y="466187"/>
            <a:ext cx="7656828" cy="5819190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79EC91B-0B60-9E9C-28A8-48DD8B3A5FD6}"/>
              </a:ext>
            </a:extLst>
          </p:cNvPr>
          <p:cNvSpPr txBox="1"/>
          <p:nvPr/>
        </p:nvSpPr>
        <p:spPr>
          <a:xfrm>
            <a:off x="720779" y="1868556"/>
            <a:ext cx="30314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</a:t>
            </a:r>
            <a:r>
              <a:rPr lang="it-IT"/>
              <a:t>growth</a:t>
            </a:r>
            <a:r>
              <a:rPr lang="it-IT" dirty="0"/>
              <a:t> in data </a:t>
            </a:r>
            <a:r>
              <a:rPr lang="it-IT" dirty="0" err="1"/>
              <a:t>quantity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exponential</a:t>
            </a:r>
            <a:r>
              <a:rPr lang="it-IT" dirty="0"/>
              <a:t>.</a:t>
            </a:r>
          </a:p>
          <a:p>
            <a:r>
              <a:rPr lang="it-IT" sz="1400" dirty="0"/>
              <a:t>(</a:t>
            </a:r>
            <a:r>
              <a:rPr lang="en-US" sz="1400" b="0" i="0" dirty="0">
                <a:solidFill>
                  <a:srgbClr val="121737"/>
                </a:solidFill>
                <a:effectLst/>
                <a:latin typeface="Manrope"/>
              </a:rPr>
              <a:t>includes data that is newly generated, captured, copied, or consumed</a:t>
            </a:r>
            <a:r>
              <a:rPr lang="it-IT" sz="1400" b="0" i="0" dirty="0">
                <a:solidFill>
                  <a:srgbClr val="121737"/>
                </a:solidFill>
                <a:effectLst/>
                <a:latin typeface="Manrope"/>
              </a:rPr>
              <a:t>)</a:t>
            </a:r>
            <a:endParaRPr lang="it-IT" sz="1400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2116B26-5F07-1418-B37F-641C3B418012}"/>
              </a:ext>
            </a:extLst>
          </p:cNvPr>
          <p:cNvSpPr txBox="1"/>
          <p:nvPr/>
        </p:nvSpPr>
        <p:spPr>
          <a:xfrm>
            <a:off x="838200" y="4008783"/>
            <a:ext cx="2832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Video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responsible</a:t>
            </a:r>
            <a:r>
              <a:rPr lang="it-IT" dirty="0"/>
              <a:t> for over </a:t>
            </a:r>
            <a:r>
              <a:rPr lang="it-IT" dirty="0" err="1"/>
              <a:t>half</a:t>
            </a:r>
            <a:r>
              <a:rPr lang="it-IT" dirty="0"/>
              <a:t> (53.72%) of </a:t>
            </a:r>
            <a:r>
              <a:rPr lang="it-IT" dirty="0" err="1"/>
              <a:t>all</a:t>
            </a:r>
            <a:r>
              <a:rPr lang="it-IT" dirty="0"/>
              <a:t> global data </a:t>
            </a:r>
            <a:r>
              <a:rPr lang="it-IT" dirty="0" err="1"/>
              <a:t>traffic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it-IT" dirty="0"/>
              <a:t>Some </a:t>
            </a:r>
            <a:r>
              <a:rPr lang="it-IT" dirty="0" err="1"/>
              <a:t>types</a:t>
            </a:r>
            <a:r>
              <a:rPr lang="it-IT" dirty="0"/>
              <a:t> of metadata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it-IT" dirty="0" err="1"/>
              <a:t>Descriptive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1057308"/>
          </a:xfrm>
        </p:spPr>
        <p:txBody>
          <a:bodyPr rtlCol="0"/>
          <a:lstStyle/>
          <a:p>
            <a:pPr rtl="0"/>
            <a:r>
              <a:rPr lang="en-US" dirty="0"/>
              <a:t>Used to identify, find, and discover content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it-IT" dirty="0" err="1"/>
              <a:t>Structural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61081" y="3070348"/>
            <a:ext cx="4855154" cy="1057308"/>
          </a:xfrm>
        </p:spPr>
        <p:txBody>
          <a:bodyPr rtlCol="0"/>
          <a:lstStyle/>
          <a:p>
            <a:pPr rtl="0"/>
            <a:r>
              <a:rPr lang="en-US" dirty="0"/>
              <a:t>Describes the internal structure or relationships between resources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it-IT" dirty="0" err="1"/>
              <a:t>Provenance</a:t>
            </a:r>
            <a:r>
              <a:rPr lang="it-IT" dirty="0"/>
              <a:t> (or Statistical)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 rtlCol="0"/>
          <a:lstStyle/>
          <a:p>
            <a:pPr rtl="0"/>
            <a:r>
              <a:rPr lang="en-US" dirty="0"/>
              <a:t>Describes the origin of data, how it was collected, and any transformations</a:t>
            </a:r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it-IT" dirty="0"/>
              <a:t>Social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85274" y="4826656"/>
            <a:ext cx="4630961" cy="1057308"/>
          </a:xfrm>
        </p:spPr>
        <p:txBody>
          <a:bodyPr rtlCol="0"/>
          <a:lstStyle/>
          <a:p>
            <a:pPr rtl="0"/>
            <a:r>
              <a:rPr lang="en-US" dirty="0"/>
              <a:t>Includes user comments, tags, reactions, or usage-related data</a:t>
            </a:r>
            <a:endParaRPr lang="it-IT" dirty="0"/>
          </a:p>
        </p:txBody>
      </p:sp>
      <p:sp>
        <p:nvSpPr>
          <p:cNvPr id="80" name="Segnaposto data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it-IT" dirty="0"/>
              <a:t>2025</a:t>
            </a:r>
          </a:p>
        </p:txBody>
      </p:sp>
      <p:sp>
        <p:nvSpPr>
          <p:cNvPr id="81" name="Segnaposto piè di pagina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it-IT" dirty="0"/>
              <a:t>Metadata &amp; Quality</a:t>
            </a:r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it-IT" smtClean="0"/>
              <a:pPr rtl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/>
          <a:lstStyle/>
          <a:p>
            <a:pPr rtl="0"/>
            <a:r>
              <a:rPr lang="it-IT" dirty="0"/>
              <a:t>From </a:t>
            </a:r>
            <a:r>
              <a:rPr lang="it-IT" dirty="0" err="1"/>
              <a:t>Structure</a:t>
            </a:r>
            <a:r>
              <a:rPr lang="it-IT" dirty="0"/>
              <a:t> to Trust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0169" y="2550269"/>
            <a:ext cx="5431971" cy="557950"/>
          </a:xfrm>
        </p:spPr>
        <p:txBody>
          <a:bodyPr rtlCol="0">
            <a:noAutofit/>
          </a:bodyPr>
          <a:lstStyle/>
          <a:p>
            <a:pPr rtl="0"/>
            <a:r>
              <a:rPr lang="en-US" sz="1800" dirty="0"/>
              <a:t>Metadata is the key in the digital world because it gives data context, structure, and meaning.</a:t>
            </a:r>
            <a:endParaRPr lang="it-IT" sz="1800" noProof="1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89307" y="4004946"/>
            <a:ext cx="5431971" cy="557950"/>
          </a:xfrm>
        </p:spPr>
        <p:txBody>
          <a:bodyPr rtlCol="0">
            <a:noAutofit/>
          </a:bodyPr>
          <a:lstStyle/>
          <a:p>
            <a:pPr rtl="0"/>
            <a:r>
              <a:rPr lang="en-US" sz="1800" dirty="0"/>
              <a:t>Good metadata quality is also the key to make sure that data is trustworthy and easy to use.</a:t>
            </a:r>
          </a:p>
          <a:p>
            <a:pPr rtl="0"/>
            <a:r>
              <a:rPr lang="en-US" sz="1800" dirty="0"/>
              <a:t>When metadata is clear and well organized people understand and work with data better.</a:t>
            </a:r>
            <a:endParaRPr lang="it-IT" sz="1800" noProof="1"/>
          </a:p>
        </p:txBody>
      </p:sp>
      <p:sp>
        <p:nvSpPr>
          <p:cNvPr id="32" name="Segnaposto data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it-IT" dirty="0"/>
              <a:t>2025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r>
              <a:rPr lang="it-IT" dirty="0"/>
              <a:t>Metadata &amp; Quality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it-IT" smtClean="0"/>
              <a:pPr rtl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266" y="5208855"/>
            <a:ext cx="4082142" cy="585788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dirty="0"/>
              <a:t>Best practices for improving metadata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214" y="153678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sz="2000" dirty="0"/>
              <a:t>Gamification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214" y="2650244"/>
            <a:ext cx="2689896" cy="514350"/>
          </a:xfrm>
        </p:spPr>
        <p:txBody>
          <a:bodyPr rtlCol="0"/>
          <a:lstStyle/>
          <a:p>
            <a:pPr rtl="0"/>
            <a:r>
              <a:rPr lang="it-IT" sz="2000" dirty="0"/>
              <a:t>High-trust </a:t>
            </a:r>
            <a:r>
              <a:rPr lang="it-IT" sz="2000" dirty="0" err="1"/>
              <a:t>environment</a:t>
            </a:r>
            <a:endParaRPr lang="it-IT" sz="2000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5718" y="3701431"/>
            <a:ext cx="2548164" cy="514350"/>
          </a:xfrm>
        </p:spPr>
        <p:txBody>
          <a:bodyPr rtlCol="0"/>
          <a:lstStyle/>
          <a:p>
            <a:pPr rtl="0"/>
            <a:r>
              <a:rPr lang="it-IT" sz="2000" dirty="0"/>
              <a:t>Training and </a:t>
            </a:r>
            <a:r>
              <a:rPr lang="it-IT" sz="2000" dirty="0" err="1"/>
              <a:t>recognition</a:t>
            </a:r>
            <a:endParaRPr lang="it-IT" sz="2000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46621"/>
            <a:ext cx="6639504" cy="1010842"/>
          </a:xfrm>
        </p:spPr>
        <p:txBody>
          <a:bodyPr rtlCol="0"/>
          <a:lstStyle/>
          <a:p>
            <a:pPr rtl="0"/>
            <a:r>
              <a:rPr lang="en-US" dirty="0"/>
              <a:t>Making metadata management fun and rewarding (points, challenges, prizes) increases engagement.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14288" y="2475144"/>
            <a:ext cx="6740900" cy="1010842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US" dirty="0"/>
              <a:t>Self-regulating communities (like </a:t>
            </a:r>
            <a:r>
              <a:rPr lang="en-US" dirty="0" err="1"/>
              <a:t>StackOverflow</a:t>
            </a:r>
            <a:r>
              <a:rPr lang="en-US" dirty="0"/>
              <a:t>) with visible feedback (upvotes, comments, badges).</a:t>
            </a:r>
          </a:p>
          <a:p>
            <a:pPr rtl="0"/>
            <a:r>
              <a:rPr lang="en-US" dirty="0"/>
              <a:t>Implementing social evaluation mechanisms (e.g., ratings, answering questions) increases metadata reliability.</a:t>
            </a:r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64337" y="3661176"/>
            <a:ext cx="6440976" cy="1010842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US" dirty="0"/>
              <a:t>Internal education programs (certifications, short courses, “metadata academy”) with public recognition.</a:t>
            </a:r>
          </a:p>
          <a:p>
            <a:pPr rtl="0"/>
            <a:r>
              <a:rPr lang="en-US" dirty="0"/>
              <a:t>Evaluating and publicly rewarding improvement creates a positive </a:t>
            </a:r>
            <a:r>
              <a:rPr lang="en-US" b="1" dirty="0"/>
              <a:t>adoption loop</a:t>
            </a:r>
            <a:endParaRPr lang="it-IT" b="1" dirty="0"/>
          </a:p>
        </p:txBody>
      </p:sp>
      <p:sp>
        <p:nvSpPr>
          <p:cNvPr id="11" name="Segnaposto data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it-IT" dirty="0"/>
              <a:t>2025</a:t>
            </a:r>
          </a:p>
        </p:txBody>
      </p:sp>
      <p:sp>
        <p:nvSpPr>
          <p:cNvPr id="12" name="Segnaposto piè di pagina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it-IT" dirty="0"/>
              <a:t>Metadata &amp; Quality</a:t>
            </a:r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mtClean="0"/>
              <a:pPr rtl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7" grpId="0" build="p"/>
      <p:bldP spid="8" grpId="0" build="p"/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2273061"/>
            <a:ext cx="6374296" cy="1715531"/>
          </a:xfrm>
        </p:spPr>
        <p:txBody>
          <a:bodyPr rtlCol="0"/>
          <a:lstStyle/>
          <a:p>
            <a:r>
              <a:rPr lang="it-IT" b="1" dirty="0"/>
              <a:t>AI &amp; LLM </a:t>
            </a:r>
            <a:br>
              <a:rPr lang="it-IT" dirty="0"/>
            </a:br>
            <a:r>
              <a:rPr lang="it-IT" dirty="0" err="1"/>
              <a:t>Innovations</a:t>
            </a:r>
            <a:r>
              <a:rPr lang="it-IT" dirty="0"/>
              <a:t> in </a:t>
            </a:r>
            <a:br>
              <a:rPr lang="it-IT" dirty="0"/>
            </a:br>
            <a:r>
              <a:rPr lang="it-IT" dirty="0"/>
              <a:t>Metadata Management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61" y="311453"/>
            <a:ext cx="6385892" cy="1325563"/>
          </a:xfrm>
        </p:spPr>
        <p:txBody>
          <a:bodyPr rtlCol="0"/>
          <a:lstStyle/>
          <a:p>
            <a:r>
              <a:rPr lang="it-IT" dirty="0" err="1"/>
              <a:t>Automate</a:t>
            </a:r>
            <a:r>
              <a:rPr lang="it-IT" dirty="0"/>
              <a:t> metadata generation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59" y="2453724"/>
            <a:ext cx="4496369" cy="1325564"/>
          </a:xfrm>
        </p:spPr>
        <p:txBody>
          <a:bodyPr rtlCol="0">
            <a:noAutofit/>
          </a:bodyPr>
          <a:lstStyle/>
          <a:p>
            <a:r>
              <a:rPr lang="it-IT" sz="1600" dirty="0" err="1"/>
              <a:t>Recent</a:t>
            </a:r>
            <a:r>
              <a:rPr lang="it-IT" sz="1600" dirty="0"/>
              <a:t> AI </a:t>
            </a:r>
            <a:r>
              <a:rPr lang="it-IT" sz="1600" dirty="0" err="1"/>
              <a:t>technologies</a:t>
            </a:r>
            <a:r>
              <a:rPr lang="it-IT" sz="1600" dirty="0"/>
              <a:t> </a:t>
            </a:r>
            <a:r>
              <a:rPr lang="en-US" sz="1600" dirty="0"/>
              <a:t>are transforming metadata systems, automating tasks that were traditionally manual.</a:t>
            </a:r>
            <a:endParaRPr lang="it-IT" sz="1600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r>
              <a:rPr lang="it-IT" dirty="0"/>
              <a:t>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r>
              <a:rPr lang="it-IT" dirty="0"/>
              <a:t>Metadata &amp; Quality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it-IT" smtClean="0"/>
              <a:pPr rtl="0"/>
              <a:t>7</a:t>
            </a:fld>
            <a:endParaRPr lang="it-IT"/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77B04056-1470-498A-FC72-8327FED2E7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56359" y="3779288"/>
            <a:ext cx="4496369" cy="13255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The automation of this process has increased the number of metadata but has also increased the risk of having a low quality of them.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921" y="4647725"/>
            <a:ext cx="3501887" cy="810577"/>
          </a:xfrm>
        </p:spPr>
        <p:txBody>
          <a:bodyPr rtlCol="0">
            <a:normAutofit fontScale="90000"/>
          </a:bodyPr>
          <a:lstStyle/>
          <a:p>
            <a:pPr algn="ctr"/>
            <a:r>
              <a:rPr lang="it-IT" dirty="0"/>
              <a:t>Some</a:t>
            </a:r>
            <a:br>
              <a:rPr lang="it-IT" dirty="0"/>
            </a:br>
            <a:r>
              <a:rPr lang="it-IT" b="1" dirty="0"/>
              <a:t>Key Applications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8021" y="722876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2400" u="sng" dirty="0" err="1"/>
              <a:t>Automated</a:t>
            </a:r>
            <a:r>
              <a:rPr lang="it-IT" sz="2400" u="sng" dirty="0"/>
              <a:t> Metadata </a:t>
            </a:r>
            <a:r>
              <a:rPr lang="it-IT" sz="2400" u="sng" dirty="0" err="1"/>
              <a:t>Description</a:t>
            </a:r>
            <a:endParaRPr lang="it-IT" sz="2400" u="sng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9254" y="1195958"/>
            <a:ext cx="5431971" cy="557950"/>
          </a:xfrm>
        </p:spPr>
        <p:txBody>
          <a:bodyPr rtlCol="0">
            <a:noAutofit/>
          </a:bodyPr>
          <a:lstStyle/>
          <a:p>
            <a:r>
              <a:rPr lang="en-US" sz="1600" dirty="0"/>
              <a:t>Platforms like </a:t>
            </a:r>
            <a:r>
              <a:rPr lang="en-US" sz="1600" b="1" dirty="0"/>
              <a:t>Alation</a:t>
            </a:r>
            <a:r>
              <a:rPr lang="en-US" sz="1600" dirty="0"/>
              <a:t>, </a:t>
            </a:r>
            <a:r>
              <a:rPr lang="en-US" sz="1600" b="1" dirty="0"/>
              <a:t>Collibra</a:t>
            </a:r>
            <a:r>
              <a:rPr lang="en-US" sz="1600" dirty="0"/>
              <a:t>, and </a:t>
            </a:r>
            <a:r>
              <a:rPr lang="en-US" sz="1600" b="1" dirty="0" err="1"/>
              <a:t>DataHub</a:t>
            </a:r>
            <a:r>
              <a:rPr lang="en-US" sz="1600" dirty="0"/>
              <a:t> use generative AI to create descriptions for datasets, columns, and tables.</a:t>
            </a:r>
            <a:endParaRPr lang="it-IT" sz="1600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14640" y="2397888"/>
            <a:ext cx="5433204" cy="365125"/>
          </a:xfrm>
        </p:spPr>
        <p:txBody>
          <a:bodyPr rtlCol="0">
            <a:noAutofit/>
          </a:bodyPr>
          <a:lstStyle/>
          <a:p>
            <a:r>
              <a:rPr lang="it-IT" sz="2400" u="sng" dirty="0"/>
              <a:t>Semantic </a:t>
            </a:r>
            <a:r>
              <a:rPr lang="it-IT" sz="2400" u="sng" dirty="0" err="1"/>
              <a:t>Classification</a:t>
            </a:r>
            <a:r>
              <a:rPr lang="it-IT" sz="2400" u="sng" dirty="0"/>
              <a:t> &amp; Tagging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18021" y="2821515"/>
            <a:ext cx="5431971" cy="557950"/>
          </a:xfrm>
        </p:spPr>
        <p:txBody>
          <a:bodyPr rtlCol="0">
            <a:noAutofit/>
          </a:bodyPr>
          <a:lstStyle/>
          <a:p>
            <a:r>
              <a:rPr lang="en-US" sz="1600" dirty="0"/>
              <a:t>ML is used to automatically tag sensitive data, glossary terms, and classifications.</a:t>
            </a:r>
            <a:endParaRPr lang="it-IT" sz="1600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5066" y="3805613"/>
            <a:ext cx="5433204" cy="365125"/>
          </a:xfrm>
        </p:spPr>
        <p:txBody>
          <a:bodyPr rtlCol="0">
            <a:noAutofit/>
          </a:bodyPr>
          <a:lstStyle/>
          <a:p>
            <a:r>
              <a:rPr lang="it-IT" sz="2400" u="sng" dirty="0"/>
              <a:t>Smart </a:t>
            </a:r>
            <a:r>
              <a:rPr lang="it-IT" sz="2400" u="sng" dirty="0" err="1"/>
              <a:t>Lineage</a:t>
            </a:r>
            <a:r>
              <a:rPr lang="it-IT" sz="2400" u="sng" dirty="0"/>
              <a:t> and Governance 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14640" y="4236683"/>
            <a:ext cx="5431971" cy="1503215"/>
          </a:xfrm>
        </p:spPr>
        <p:txBody>
          <a:bodyPr rtlCol="0">
            <a:noAutofit/>
          </a:bodyPr>
          <a:lstStyle/>
          <a:p>
            <a:r>
              <a:rPr lang="en-US" sz="1600" b="1" i="1" dirty="0"/>
              <a:t>Smart lineage</a:t>
            </a:r>
            <a:r>
              <a:rPr lang="en-US" sz="1600" dirty="0"/>
              <a:t> automatically tracks where data comes from, how it changes, and where it goes, offering full visibility and traceability.</a:t>
            </a:r>
          </a:p>
          <a:p>
            <a:r>
              <a:rPr lang="en-US" sz="1600" b="1" i="1" dirty="0"/>
              <a:t>Smart governance</a:t>
            </a:r>
            <a:r>
              <a:rPr lang="en-US" sz="1600" dirty="0"/>
              <a:t> uses AI and automation to enforce data policies, ensure quality and support compliance.</a:t>
            </a:r>
            <a:endParaRPr lang="it-IT" sz="1600" dirty="0"/>
          </a:p>
        </p:txBody>
      </p:sp>
      <p:sp>
        <p:nvSpPr>
          <p:cNvPr id="20" name="Segnaposto data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it-IT" dirty="0"/>
              <a:t>2025</a:t>
            </a:r>
          </a:p>
        </p:txBody>
      </p: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r>
              <a:rPr lang="it-IT" dirty="0"/>
              <a:t>Metadata &amp; Quality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it-IT" smtClean="0"/>
              <a:pPr rtl="0"/>
              <a:t>8</a:t>
            </a:fld>
            <a:endParaRPr lang="it-IT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463D37B6-A234-8AE8-875C-841FEFC02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369" y="1151965"/>
            <a:ext cx="1058310" cy="105831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C08AA6E6-BDB0-B1CE-DEB6-B38ECCA91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183" y="2763013"/>
            <a:ext cx="817391" cy="817391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122A8DCC-7519-0A15-5FB5-8F7FD1A370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3931" y="3071130"/>
            <a:ext cx="1058310" cy="105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data 10">
            <a:extLst>
              <a:ext uri="{FF2B5EF4-FFF2-40B4-BE49-F238E27FC236}">
                <a16:creationId xmlns:a16="http://schemas.microsoft.com/office/drawing/2014/main" id="{905C6EA6-8CF9-50C5-D9CD-F94DC1A24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 dirty="0"/>
              <a:t>2025</a:t>
            </a:r>
          </a:p>
        </p:txBody>
      </p:sp>
      <p:sp>
        <p:nvSpPr>
          <p:cNvPr id="12" name="Segnaposto piè di pagina 11">
            <a:extLst>
              <a:ext uri="{FF2B5EF4-FFF2-40B4-BE49-F238E27FC236}">
                <a16:creationId xmlns:a16="http://schemas.microsoft.com/office/drawing/2014/main" id="{FDEBB88C-6EDF-93D6-20E6-90B9691F3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Metadata &amp; Quality</a:t>
            </a:r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83BC0AD1-B040-D13E-F205-A0379190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9</a:t>
            </a:fld>
            <a:endParaRPr lang="it-IT" noProof="0"/>
          </a:p>
        </p:txBody>
      </p:sp>
      <p:sp>
        <p:nvSpPr>
          <p:cNvPr id="31" name="Titolo 1">
            <a:extLst>
              <a:ext uri="{FF2B5EF4-FFF2-40B4-BE49-F238E27FC236}">
                <a16:creationId xmlns:a16="http://schemas.microsoft.com/office/drawing/2014/main" id="{2B800B9B-C386-6486-0091-9C23E38679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932" y="112070"/>
            <a:ext cx="6385892" cy="1325563"/>
          </a:xfrm>
        </p:spPr>
        <p:txBody>
          <a:bodyPr rtlCol="0"/>
          <a:lstStyle/>
          <a:p>
            <a:r>
              <a:rPr lang="it-IT" b="1" dirty="0"/>
              <a:t>Risks &amp; </a:t>
            </a:r>
            <a:r>
              <a:rPr lang="it-IT" b="1" dirty="0" err="1"/>
              <a:t>mitigation</a:t>
            </a:r>
            <a:r>
              <a:rPr lang="it-IT" b="1" dirty="0"/>
              <a:t> strategies </a:t>
            </a:r>
            <a:r>
              <a:rPr lang="it-IT" dirty="0"/>
              <a:t>for ai in metadata</a:t>
            </a:r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B50500C4-5F3D-2DE9-036E-78C6EE048E5D}"/>
              </a:ext>
            </a:extLst>
          </p:cNvPr>
          <p:cNvCxnSpPr>
            <a:cxnSpLocks/>
          </p:cNvCxnSpPr>
          <p:nvPr/>
        </p:nvCxnSpPr>
        <p:spPr>
          <a:xfrm>
            <a:off x="6147772" y="1445199"/>
            <a:ext cx="0" cy="4894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6" name="Elemento grafico 35" descr="Avviso con riempimento a tinta unita">
            <a:extLst>
              <a:ext uri="{FF2B5EF4-FFF2-40B4-BE49-F238E27FC236}">
                <a16:creationId xmlns:a16="http://schemas.microsoft.com/office/drawing/2014/main" id="{09495CBB-ED11-050F-B849-915E2A630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1688" y="421792"/>
            <a:ext cx="914400" cy="914400"/>
          </a:xfrm>
          <a:prstGeom prst="rect">
            <a:avLst/>
          </a:prstGeom>
        </p:spPr>
      </p:pic>
      <p:pic>
        <p:nvPicPr>
          <p:cNvPr id="38" name="Elemento grafico 37" descr="Scudo con segno di spunta con riempimento a tinta unita">
            <a:extLst>
              <a:ext uri="{FF2B5EF4-FFF2-40B4-BE49-F238E27FC236}">
                <a16:creationId xmlns:a16="http://schemas.microsoft.com/office/drawing/2014/main" id="{3ACA744B-E337-8E1A-2C30-4D45AEFB9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912" y="421792"/>
            <a:ext cx="914400" cy="914400"/>
          </a:xfrm>
          <a:prstGeom prst="rect">
            <a:avLst/>
          </a:prstGeom>
        </p:spPr>
      </p:pic>
      <p:sp>
        <p:nvSpPr>
          <p:cNvPr id="40" name="Segnaposto testo 5">
            <a:extLst>
              <a:ext uri="{FF2B5EF4-FFF2-40B4-BE49-F238E27FC236}">
                <a16:creationId xmlns:a16="http://schemas.microsoft.com/office/drawing/2014/main" id="{2093CE04-E7EA-E3FA-A574-CA3D5358D5F4}"/>
              </a:ext>
            </a:extLst>
          </p:cNvPr>
          <p:cNvSpPr txBox="1">
            <a:spLocks/>
          </p:cNvSpPr>
          <p:nvPr/>
        </p:nvSpPr>
        <p:spPr>
          <a:xfrm>
            <a:off x="447265" y="1904139"/>
            <a:ext cx="5015945" cy="557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LLMs</a:t>
            </a:r>
            <a:r>
              <a:rPr lang="it-IT" dirty="0"/>
              <a:t> can </a:t>
            </a:r>
            <a:r>
              <a:rPr lang="it-IT" dirty="0" err="1"/>
              <a:t>fabricate</a:t>
            </a:r>
            <a:r>
              <a:rPr lang="it-IT" dirty="0"/>
              <a:t> </a:t>
            </a:r>
            <a:r>
              <a:rPr lang="it-IT" dirty="0" err="1"/>
              <a:t>plausible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false information.</a:t>
            </a:r>
          </a:p>
        </p:txBody>
      </p:sp>
      <p:sp>
        <p:nvSpPr>
          <p:cNvPr id="41" name="Segnaposto testo 4">
            <a:extLst>
              <a:ext uri="{FF2B5EF4-FFF2-40B4-BE49-F238E27FC236}">
                <a16:creationId xmlns:a16="http://schemas.microsoft.com/office/drawing/2014/main" id="{C10ED7ED-9C3E-3C97-00B5-69DCEBAFFB8F}"/>
              </a:ext>
            </a:extLst>
          </p:cNvPr>
          <p:cNvSpPr txBox="1">
            <a:spLocks/>
          </p:cNvSpPr>
          <p:nvPr/>
        </p:nvSpPr>
        <p:spPr>
          <a:xfrm>
            <a:off x="1464779" y="1551271"/>
            <a:ext cx="3054626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 err="1"/>
              <a:t>Hallucinations</a:t>
            </a:r>
            <a:endParaRPr lang="it-IT" sz="2000" b="1" u="sng" dirty="0"/>
          </a:p>
        </p:txBody>
      </p:sp>
      <p:sp>
        <p:nvSpPr>
          <p:cNvPr id="42" name="Segnaposto testo 5">
            <a:extLst>
              <a:ext uri="{FF2B5EF4-FFF2-40B4-BE49-F238E27FC236}">
                <a16:creationId xmlns:a16="http://schemas.microsoft.com/office/drawing/2014/main" id="{D73DC0C0-3113-5A35-FC42-FFEC443AA0FF}"/>
              </a:ext>
            </a:extLst>
          </p:cNvPr>
          <p:cNvSpPr txBox="1">
            <a:spLocks/>
          </p:cNvSpPr>
          <p:nvPr/>
        </p:nvSpPr>
        <p:spPr>
          <a:xfrm>
            <a:off x="417449" y="2723853"/>
            <a:ext cx="5015945" cy="557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AI outputs can reflect and amplify biases present in training data.</a:t>
            </a:r>
            <a:endParaRPr lang="it-IT" dirty="0"/>
          </a:p>
        </p:txBody>
      </p:sp>
      <p:sp>
        <p:nvSpPr>
          <p:cNvPr id="43" name="Segnaposto testo 4">
            <a:extLst>
              <a:ext uri="{FF2B5EF4-FFF2-40B4-BE49-F238E27FC236}">
                <a16:creationId xmlns:a16="http://schemas.microsoft.com/office/drawing/2014/main" id="{DA2F825A-9A62-B309-BA62-00E04ED23A94}"/>
              </a:ext>
            </a:extLst>
          </p:cNvPr>
          <p:cNvSpPr txBox="1">
            <a:spLocks/>
          </p:cNvSpPr>
          <p:nvPr/>
        </p:nvSpPr>
        <p:spPr>
          <a:xfrm>
            <a:off x="1316519" y="2352599"/>
            <a:ext cx="3054626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 err="1"/>
              <a:t>Bias</a:t>
            </a:r>
            <a:endParaRPr lang="it-IT" sz="2000" b="1" u="sng" dirty="0"/>
          </a:p>
        </p:txBody>
      </p:sp>
      <p:sp>
        <p:nvSpPr>
          <p:cNvPr id="44" name="Segnaposto testo 5">
            <a:extLst>
              <a:ext uri="{FF2B5EF4-FFF2-40B4-BE49-F238E27FC236}">
                <a16:creationId xmlns:a16="http://schemas.microsoft.com/office/drawing/2014/main" id="{6CFA3723-9836-D9C1-C66C-8A3A0F330D89}"/>
              </a:ext>
            </a:extLst>
          </p:cNvPr>
          <p:cNvSpPr txBox="1">
            <a:spLocks/>
          </p:cNvSpPr>
          <p:nvPr/>
        </p:nvSpPr>
        <p:spPr>
          <a:xfrm>
            <a:off x="447265" y="3677651"/>
            <a:ext cx="5015945" cy="557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LLMs are often black boxes; users may not understand why a suggestion was made.</a:t>
            </a:r>
            <a:endParaRPr lang="it-IT" dirty="0"/>
          </a:p>
        </p:txBody>
      </p:sp>
      <p:sp>
        <p:nvSpPr>
          <p:cNvPr id="45" name="Segnaposto testo 4">
            <a:extLst>
              <a:ext uri="{FF2B5EF4-FFF2-40B4-BE49-F238E27FC236}">
                <a16:creationId xmlns:a16="http://schemas.microsoft.com/office/drawing/2014/main" id="{8D8049BA-6B34-73D2-8A39-2F2022FED6A2}"/>
              </a:ext>
            </a:extLst>
          </p:cNvPr>
          <p:cNvSpPr txBox="1">
            <a:spLocks/>
          </p:cNvSpPr>
          <p:nvPr/>
        </p:nvSpPr>
        <p:spPr>
          <a:xfrm>
            <a:off x="1463536" y="3304524"/>
            <a:ext cx="3054626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 err="1"/>
              <a:t>Lack</a:t>
            </a:r>
            <a:r>
              <a:rPr lang="it-IT" sz="2000" b="1" dirty="0"/>
              <a:t> of </a:t>
            </a:r>
            <a:r>
              <a:rPr lang="it-IT" sz="2000" b="1" dirty="0" err="1"/>
              <a:t>transparency</a:t>
            </a:r>
            <a:endParaRPr lang="it-IT" sz="2000" b="1" u="sng" dirty="0"/>
          </a:p>
        </p:txBody>
      </p:sp>
      <p:sp>
        <p:nvSpPr>
          <p:cNvPr id="46" name="Segnaposto testo 5">
            <a:extLst>
              <a:ext uri="{FF2B5EF4-FFF2-40B4-BE49-F238E27FC236}">
                <a16:creationId xmlns:a16="http://schemas.microsoft.com/office/drawing/2014/main" id="{6833AC28-17EE-E491-6D5D-EBAD61312B9D}"/>
              </a:ext>
            </a:extLst>
          </p:cNvPr>
          <p:cNvSpPr txBox="1">
            <a:spLocks/>
          </p:cNvSpPr>
          <p:nvPr/>
        </p:nvSpPr>
        <p:spPr>
          <a:xfrm>
            <a:off x="300661" y="4680129"/>
            <a:ext cx="5380377" cy="557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Improper use of AI tools can leak sensitive metadata or violate regulations.</a:t>
            </a:r>
            <a:endParaRPr lang="it-IT" dirty="0"/>
          </a:p>
        </p:txBody>
      </p:sp>
      <p:sp>
        <p:nvSpPr>
          <p:cNvPr id="47" name="Segnaposto testo 4">
            <a:extLst>
              <a:ext uri="{FF2B5EF4-FFF2-40B4-BE49-F238E27FC236}">
                <a16:creationId xmlns:a16="http://schemas.microsoft.com/office/drawing/2014/main" id="{53569D00-37B5-40ED-8A16-839D33C09951}"/>
              </a:ext>
            </a:extLst>
          </p:cNvPr>
          <p:cNvSpPr txBox="1">
            <a:spLocks/>
          </p:cNvSpPr>
          <p:nvPr/>
        </p:nvSpPr>
        <p:spPr>
          <a:xfrm>
            <a:off x="1464779" y="4299743"/>
            <a:ext cx="3054626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Compliance/privacy</a:t>
            </a:r>
            <a:endParaRPr lang="it-IT" sz="2000" b="1" u="sng" dirty="0"/>
          </a:p>
        </p:txBody>
      </p:sp>
      <p:sp>
        <p:nvSpPr>
          <p:cNvPr id="48" name="Segnaposto testo 5">
            <a:extLst>
              <a:ext uri="{FF2B5EF4-FFF2-40B4-BE49-F238E27FC236}">
                <a16:creationId xmlns:a16="http://schemas.microsoft.com/office/drawing/2014/main" id="{68B47AC2-9440-49ED-FEE8-4D8C8958DA3F}"/>
              </a:ext>
            </a:extLst>
          </p:cNvPr>
          <p:cNvSpPr txBox="1">
            <a:spLocks/>
          </p:cNvSpPr>
          <p:nvPr/>
        </p:nvSpPr>
        <p:spPr>
          <a:xfrm>
            <a:off x="508970" y="5611206"/>
            <a:ext cx="5015945" cy="557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Users may accept AI suggestions without verifying accuracy.</a:t>
            </a:r>
            <a:endParaRPr lang="it-IT" dirty="0"/>
          </a:p>
        </p:txBody>
      </p:sp>
      <p:sp>
        <p:nvSpPr>
          <p:cNvPr id="49" name="Segnaposto testo 4">
            <a:extLst>
              <a:ext uri="{FF2B5EF4-FFF2-40B4-BE49-F238E27FC236}">
                <a16:creationId xmlns:a16="http://schemas.microsoft.com/office/drawing/2014/main" id="{4F9D1EA2-67C4-82B9-219F-F67EA4F84C2B}"/>
              </a:ext>
            </a:extLst>
          </p:cNvPr>
          <p:cNvSpPr txBox="1">
            <a:spLocks/>
          </p:cNvSpPr>
          <p:nvPr/>
        </p:nvSpPr>
        <p:spPr>
          <a:xfrm>
            <a:off x="1316519" y="5290321"/>
            <a:ext cx="3054626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 err="1"/>
              <a:t>Overtrust</a:t>
            </a:r>
            <a:endParaRPr lang="it-IT" sz="2000" b="1" u="sng" dirty="0"/>
          </a:p>
        </p:txBody>
      </p:sp>
      <p:sp>
        <p:nvSpPr>
          <p:cNvPr id="50" name="Segnaposto testo 5">
            <a:extLst>
              <a:ext uri="{FF2B5EF4-FFF2-40B4-BE49-F238E27FC236}">
                <a16:creationId xmlns:a16="http://schemas.microsoft.com/office/drawing/2014/main" id="{79BAC222-68BF-7033-56DD-F8CCDEA5DC21}"/>
              </a:ext>
            </a:extLst>
          </p:cNvPr>
          <p:cNvSpPr txBox="1">
            <a:spLocks/>
          </p:cNvSpPr>
          <p:nvPr/>
        </p:nvSpPr>
        <p:spPr>
          <a:xfrm>
            <a:off x="6449257" y="1904139"/>
            <a:ext cx="5015945" cy="557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Most tools require human validation of generated metadata.</a:t>
            </a:r>
            <a:endParaRPr lang="it-IT" dirty="0"/>
          </a:p>
        </p:txBody>
      </p:sp>
      <p:sp>
        <p:nvSpPr>
          <p:cNvPr id="51" name="Segnaposto testo 4">
            <a:extLst>
              <a:ext uri="{FF2B5EF4-FFF2-40B4-BE49-F238E27FC236}">
                <a16:creationId xmlns:a16="http://schemas.microsoft.com/office/drawing/2014/main" id="{BBF61CFA-B2FC-CA8A-63D0-D266F86FC83B}"/>
              </a:ext>
            </a:extLst>
          </p:cNvPr>
          <p:cNvSpPr txBox="1">
            <a:spLocks/>
          </p:cNvSpPr>
          <p:nvPr/>
        </p:nvSpPr>
        <p:spPr>
          <a:xfrm>
            <a:off x="7466771" y="1551271"/>
            <a:ext cx="3054626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Human-in-the-Loop</a:t>
            </a:r>
            <a:endParaRPr lang="it-IT" sz="2000" b="1" u="sng" dirty="0"/>
          </a:p>
        </p:txBody>
      </p:sp>
      <p:sp>
        <p:nvSpPr>
          <p:cNvPr id="52" name="Segnaposto testo 5">
            <a:extLst>
              <a:ext uri="{FF2B5EF4-FFF2-40B4-BE49-F238E27FC236}">
                <a16:creationId xmlns:a16="http://schemas.microsoft.com/office/drawing/2014/main" id="{EC46FBDF-0141-30B0-63E4-AB2D85AEBF8A}"/>
              </a:ext>
            </a:extLst>
          </p:cNvPr>
          <p:cNvSpPr txBox="1">
            <a:spLocks/>
          </p:cNvSpPr>
          <p:nvPr/>
        </p:nvSpPr>
        <p:spPr>
          <a:xfrm>
            <a:off x="6419441" y="2723853"/>
            <a:ext cx="5107463" cy="557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Anomaly detection to ensure the AI isn’t trained on poor-quality inputs.</a:t>
            </a:r>
            <a:endParaRPr lang="it-IT" dirty="0"/>
          </a:p>
        </p:txBody>
      </p:sp>
      <p:sp>
        <p:nvSpPr>
          <p:cNvPr id="53" name="Segnaposto testo 4">
            <a:extLst>
              <a:ext uri="{FF2B5EF4-FFF2-40B4-BE49-F238E27FC236}">
                <a16:creationId xmlns:a16="http://schemas.microsoft.com/office/drawing/2014/main" id="{2DF26EFD-A610-05B2-08F5-A6C1F59B2BB4}"/>
              </a:ext>
            </a:extLst>
          </p:cNvPr>
          <p:cNvSpPr txBox="1">
            <a:spLocks/>
          </p:cNvSpPr>
          <p:nvPr/>
        </p:nvSpPr>
        <p:spPr>
          <a:xfrm>
            <a:off x="7318511" y="2352599"/>
            <a:ext cx="3054626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Data Quality Controls</a:t>
            </a:r>
            <a:endParaRPr lang="it-IT" sz="2000" b="1" u="sng" dirty="0"/>
          </a:p>
        </p:txBody>
      </p:sp>
      <p:sp>
        <p:nvSpPr>
          <p:cNvPr id="54" name="Segnaposto testo 5">
            <a:extLst>
              <a:ext uri="{FF2B5EF4-FFF2-40B4-BE49-F238E27FC236}">
                <a16:creationId xmlns:a16="http://schemas.microsoft.com/office/drawing/2014/main" id="{E0B35375-E24D-38DB-D55C-09A23E2812E1}"/>
              </a:ext>
            </a:extLst>
          </p:cNvPr>
          <p:cNvSpPr txBox="1">
            <a:spLocks/>
          </p:cNvSpPr>
          <p:nvPr/>
        </p:nvSpPr>
        <p:spPr>
          <a:xfrm>
            <a:off x="6449257" y="3677651"/>
            <a:ext cx="5015945" cy="557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ability of a system to clearly explain how and why it made a specific decision or produced a certain outcome.</a:t>
            </a:r>
            <a:endParaRPr lang="it-IT" dirty="0"/>
          </a:p>
        </p:txBody>
      </p:sp>
      <p:sp>
        <p:nvSpPr>
          <p:cNvPr id="55" name="Segnaposto testo 4">
            <a:extLst>
              <a:ext uri="{FF2B5EF4-FFF2-40B4-BE49-F238E27FC236}">
                <a16:creationId xmlns:a16="http://schemas.microsoft.com/office/drawing/2014/main" id="{653ACCE6-CF8F-B838-151B-6FE77BF06D20}"/>
              </a:ext>
            </a:extLst>
          </p:cNvPr>
          <p:cNvSpPr txBox="1">
            <a:spLocks/>
          </p:cNvSpPr>
          <p:nvPr/>
        </p:nvSpPr>
        <p:spPr>
          <a:xfrm>
            <a:off x="7210221" y="3292328"/>
            <a:ext cx="3494015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 err="1"/>
              <a:t>Explainability</a:t>
            </a:r>
            <a:endParaRPr lang="it-IT" sz="2000" b="1" u="sng" dirty="0"/>
          </a:p>
        </p:txBody>
      </p:sp>
      <p:sp>
        <p:nvSpPr>
          <p:cNvPr id="56" name="Segnaposto testo 5">
            <a:extLst>
              <a:ext uri="{FF2B5EF4-FFF2-40B4-BE49-F238E27FC236}">
                <a16:creationId xmlns:a16="http://schemas.microsoft.com/office/drawing/2014/main" id="{D6C3A4E3-1184-BB25-C063-E8BBEFF24D8C}"/>
              </a:ext>
            </a:extLst>
          </p:cNvPr>
          <p:cNvSpPr txBox="1">
            <a:spLocks/>
          </p:cNvSpPr>
          <p:nvPr/>
        </p:nvSpPr>
        <p:spPr>
          <a:xfrm>
            <a:off x="6302653" y="4680129"/>
            <a:ext cx="5380377" cy="557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Ensure metadata stays within internal environments.</a:t>
            </a:r>
            <a:endParaRPr lang="it-IT" dirty="0"/>
          </a:p>
        </p:txBody>
      </p:sp>
      <p:sp>
        <p:nvSpPr>
          <p:cNvPr id="57" name="Segnaposto testo 4">
            <a:extLst>
              <a:ext uri="{FF2B5EF4-FFF2-40B4-BE49-F238E27FC236}">
                <a16:creationId xmlns:a16="http://schemas.microsoft.com/office/drawing/2014/main" id="{2A91F7DB-35B4-308F-098E-B276A7224B91}"/>
              </a:ext>
            </a:extLst>
          </p:cNvPr>
          <p:cNvSpPr txBox="1">
            <a:spLocks/>
          </p:cNvSpPr>
          <p:nvPr/>
        </p:nvSpPr>
        <p:spPr>
          <a:xfrm>
            <a:off x="7388092" y="4299743"/>
            <a:ext cx="3220270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Privacy-Safe AI Integration</a:t>
            </a:r>
            <a:endParaRPr lang="it-IT" sz="2000" b="1" u="sng" dirty="0"/>
          </a:p>
        </p:txBody>
      </p:sp>
      <p:sp>
        <p:nvSpPr>
          <p:cNvPr id="58" name="Segnaposto testo 5">
            <a:extLst>
              <a:ext uri="{FF2B5EF4-FFF2-40B4-BE49-F238E27FC236}">
                <a16:creationId xmlns:a16="http://schemas.microsoft.com/office/drawing/2014/main" id="{F1AC30A7-01FD-D7E0-C08B-4765EBDEFF2B}"/>
              </a:ext>
            </a:extLst>
          </p:cNvPr>
          <p:cNvSpPr txBox="1">
            <a:spLocks/>
          </p:cNvSpPr>
          <p:nvPr/>
        </p:nvSpPr>
        <p:spPr>
          <a:xfrm>
            <a:off x="6510962" y="5558964"/>
            <a:ext cx="5015945" cy="557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Feeding the AI with balanced and rich contextual data can prevent distorted suggestions.</a:t>
            </a:r>
            <a:endParaRPr lang="it-IT" dirty="0"/>
          </a:p>
        </p:txBody>
      </p:sp>
      <p:sp>
        <p:nvSpPr>
          <p:cNvPr id="59" name="Segnaposto testo 4">
            <a:extLst>
              <a:ext uri="{FF2B5EF4-FFF2-40B4-BE49-F238E27FC236}">
                <a16:creationId xmlns:a16="http://schemas.microsoft.com/office/drawing/2014/main" id="{86446558-0587-CA86-0971-51EA1986E278}"/>
              </a:ext>
            </a:extLst>
          </p:cNvPr>
          <p:cNvSpPr txBox="1">
            <a:spLocks/>
          </p:cNvSpPr>
          <p:nvPr/>
        </p:nvSpPr>
        <p:spPr>
          <a:xfrm>
            <a:off x="7318511" y="5238079"/>
            <a:ext cx="3455506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 err="1"/>
              <a:t>Fairness</a:t>
            </a:r>
            <a:r>
              <a:rPr lang="it-IT" sz="2000" b="1" dirty="0"/>
              <a:t> and </a:t>
            </a:r>
            <a:r>
              <a:rPr lang="it-IT" sz="2000" b="1" dirty="0" err="1"/>
              <a:t>Bias</a:t>
            </a:r>
            <a:r>
              <a:rPr lang="it-IT" sz="2000" b="1" dirty="0"/>
              <a:t> Monitoring</a:t>
            </a:r>
            <a:endParaRPr lang="it-IT" sz="2000" b="1" u="sng" dirty="0"/>
          </a:p>
          <a:p>
            <a:endParaRPr lang="it-IT" sz="2000" b="1" u="sng" dirty="0"/>
          </a:p>
        </p:txBody>
      </p:sp>
    </p:spTree>
    <p:extLst>
      <p:ext uri="{BB962C8B-B14F-4D97-AF65-F5344CB8AC3E}">
        <p14:creationId xmlns:p14="http://schemas.microsoft.com/office/powerpoint/2010/main" val="72884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rtlCol="0"/>
          <a:lstStyle/>
          <a:p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Thoughts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9490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endParaRPr lang="it-IT" dirty="0"/>
          </a:p>
          <a:p>
            <a:pPr rtl="0"/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it-IT" dirty="0"/>
              <a:t>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it-IT" dirty="0"/>
              <a:t>Metadata &amp; Quality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it-IT" smtClean="0"/>
              <a:pPr rtl="0"/>
              <a:t>10</a:t>
            </a:fld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93D9F27-A83B-B833-936B-255EC55C2021}"/>
              </a:ext>
            </a:extLst>
          </p:cNvPr>
          <p:cNvSpPr txBox="1"/>
          <p:nvPr/>
        </p:nvSpPr>
        <p:spPr>
          <a:xfrm>
            <a:off x="5635901" y="3335119"/>
            <a:ext cx="52043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growth of metadata is closely linked to the growth of data.</a:t>
            </a:r>
          </a:p>
          <a:p>
            <a:endParaRPr lang="en-US" dirty="0"/>
          </a:p>
          <a:p>
            <a:r>
              <a:rPr lang="en-US" dirty="0"/>
              <a:t>It’s crucial to adopt </a:t>
            </a:r>
            <a:r>
              <a:rPr lang="it-IT" dirty="0"/>
              <a:t>innovative</a:t>
            </a:r>
            <a:r>
              <a:rPr lang="en-US" dirty="0"/>
              <a:t> methodologies to scale metadata generation; it’s also important to maintain high standards of </a:t>
            </a:r>
            <a:r>
              <a:rPr lang="en-US" b="1" dirty="0"/>
              <a:t>accuracy</a:t>
            </a:r>
            <a:r>
              <a:rPr lang="en-US" dirty="0"/>
              <a:t> and </a:t>
            </a:r>
            <a:r>
              <a:rPr lang="en-US" b="1" dirty="0"/>
              <a:t>quality</a:t>
            </a:r>
            <a:r>
              <a:rPr lang="en-US" dirty="0"/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5671930" cy="1524735"/>
          </a:xfrm>
        </p:spPr>
        <p:txBody>
          <a:bodyPr rtlCol="0"/>
          <a:lstStyle/>
          <a:p>
            <a:r>
              <a:rPr lang="en-US" sz="4000" dirty="0"/>
              <a:t>Thank you </a:t>
            </a:r>
            <a:br>
              <a:rPr lang="en-US" sz="4000" dirty="0"/>
            </a:br>
            <a:r>
              <a:rPr lang="en-US" sz="4000" dirty="0"/>
              <a:t>for your attention</a:t>
            </a:r>
            <a:endParaRPr lang="it-IT" sz="4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4"/>
            <a:ext cx="4179570" cy="644784"/>
          </a:xfrm>
        </p:spPr>
        <p:txBody>
          <a:bodyPr rtlCol="0">
            <a:normAutofit/>
          </a:bodyPr>
          <a:lstStyle/>
          <a:p>
            <a:pPr rtl="0"/>
            <a:r>
              <a:rPr lang="it-IT" dirty="0"/>
              <a:t>Alessandro Di Girolamo</a:t>
            </a:r>
          </a:p>
          <a:p>
            <a:pPr rtl="0"/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/>
          <a:p>
            <a:pPr rtl="0"/>
            <a:r>
              <a:rPr lang="it-IT" dirty="0"/>
              <a:t>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/>
          <a:p>
            <a:r>
              <a:rPr lang="it-IT" dirty="0"/>
              <a:t>Metadata &amp; Quality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it-IT" smtClean="0"/>
              <a:pPr rtl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7_TF56180624_Win32" id="{D3997735-0022-4ADB-B481-82DB79589012}" vid="{D160C44F-0E59-43D7-A4EF-160DF92B4A1B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Presentazione di vendita semplice e minimalista</Template>
  <TotalTime>285</TotalTime>
  <Words>641</Words>
  <Application>Microsoft Office PowerPoint</Application>
  <PresentationFormat>Widescreen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Manrope</vt:lpstr>
      <vt:lpstr>Tenorite</vt:lpstr>
      <vt:lpstr>Monolinea</vt:lpstr>
      <vt:lpstr>Metadata &amp; Quality</vt:lpstr>
      <vt:lpstr>Presentazione standard di PowerPoint</vt:lpstr>
      <vt:lpstr>Some types of metadata</vt:lpstr>
      <vt:lpstr>From Structure to Trust</vt:lpstr>
      <vt:lpstr>Best practices for improving metadata</vt:lpstr>
      <vt:lpstr>AI &amp; LLM  Innovations in  Metadata Management</vt:lpstr>
      <vt:lpstr>Automate metadata generation</vt:lpstr>
      <vt:lpstr>Some Key Applications</vt:lpstr>
      <vt:lpstr>Risks &amp; mitigation strategies for ai in metadata</vt:lpstr>
      <vt:lpstr>Final Thoughts</vt:lpstr>
      <vt:lpstr>Thank you 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girolamo</dc:creator>
  <cp:lastModifiedBy>alessandro di girolamo</cp:lastModifiedBy>
  <cp:revision>2</cp:revision>
  <dcterms:created xsi:type="dcterms:W3CDTF">2025-06-02T16:21:47Z</dcterms:created>
  <dcterms:modified xsi:type="dcterms:W3CDTF">2025-06-11T09:50:45Z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